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2794" autoAdjust="0"/>
  </p:normalViewPr>
  <p:slideViewPr>
    <p:cSldViewPr snapToGrid="0" snapToObjects="1">
      <p:cViewPr>
        <p:scale>
          <a:sx n="80" d="100"/>
          <a:sy n="80" d="100"/>
        </p:scale>
        <p:origin x="682" y="-1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65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Ezen a nyitó dián röviden bemutatnám, hogy az Excuse Me egy kreatív, de technikailag teljes értékű mobilprojekt.
A fő ötlet az, hogy a felhasználó egy valós helyzetet ír be, és az alkalmazás ebből humoros vagy komoly kifogást generál.
A prezentációban külön végigmegyek a képernyőkön, az architektúrán és a Firestore adattároláson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azt emelném ki, hogy a projekt nem csak vicces ötlet, hanem mérnöki szempontból is jól rétegzett alkalmazás.
A probléma az, hogy a felhasználó gyorsan akar jobb megfogalmazást, de a hangnem és a nyelv is számít.
A megoldás ezért egyszerre tartalomgeneráló, archiváló és közösségi rendszer.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Ezen a dián azt mutatnám be, hogyan néz ki a fő user journey a belépéstől a generálásig és a közösségi funkciókig.
A hangsúly azon van, hogy a képernyők nem önálló elemek, hanem egy folyamat részei.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érdemes hangsúlyozni, hogy ez a projekt fő interakciós pontja.
A felhasználó beírja az igazságot, stílust választ, majd a rendszer egy rövid, célzott választ ad vissza.
A kártya innen továbbvezeti a felhasználót újragenerálásra vagy publikálásra.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dia azt mutatja, hogy a projekt nem névtelen egyszeri generátor, hanem állapotot és felhasználói adatot kezel.
A session fontos, mert minden generálás userhez kötött, és innen lesz history meg statisztika.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külön bontanám a három képernyő szerepét, mert ezek mutatják meg igazán a perzisztenciát és az analitikát.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Ezek a képernyők mutatják meg, hogy a projekt közösségi dimenziót is kapott.
Itt át lehet vezetni a hallgatóságot a publikus feedtől a rangsorolásig és a kategóriákig.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közösségi nézetekkel azt lehet hangsúlyozni, hogy a generált tartalomnak másodlagos élete is 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röviden végigmennék azon, hogy melyik réteg miért felelős.
A legfontosabb üzenet az, hogy a kliens, a backend, az AI és a tárolás jól el van választva egymástól.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Ezen a dián azt mondanám el, hogy a kliens-szerver kommunikáció pontos JSON-szerződésre épül.
A másik fontos pont a hibák normalizálása: timeout, upstream hiba és auth hiba külön kezelve jelenik meg.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azt hangsúlyoznám, hogy NoSQL-ban nem klasszikus táblák vannak, hanem kollekciók és dokumentumok, de az üzleti modell ugyanúgy jól felismerhető.
A három fő kollekció a users, az excuse_generations és a wall_posts.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azt mondanám el, hogy a projekt felépítése támogatja az automatizált ellenőrzést.
A backendben endpoint és üzleti logika tesztek vannak, a Flutter oldalon pedig widget tesztek és dependency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Ezt a diagramot külön diára tettem, hogy jól olvasható legyen.
Itt röviden bemutatnám a felhasználó és az admin fő use case-eit.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diagram a fő képernyőstruktúrát foglalja össze.
A lényeg az, hogy a navigáció funkcionális szempontból is konzisztens.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blokkdiagram a rendszer nagy komponenseit és kapcsolatait mutatja.
A kliens, a backend és a perzisztencia jól külön rétegekben marad.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a generálási folyamat lépései látszanak a felhasználói kéréstől az AI-válaszig.
Ez jó hely a szerveroldali validáció és retry logika említésére.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az állapotdiagram azt mutatja, hogyan mozog a felhasználó a fő interakciók között.
Kiemelném, hogy a képernyőállapotok és az API-hívások szépen elválaszthatók.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aktivitásdiagram a fő üzleti folyamatot mutatja egyben.
Ez összeköti a felhasználói műveleteket a rendszer reakcióival.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Zárásként azt emelném ki, hogy a projekt nem csak látványos, hanem technikailag is összerakott.
A kliens, a backend, az AI és az adattárolás együtt egy teljes mini terméket adnak.
Innen tovább lehetne menni például jobb moderáció, részletesebb analitika vagy több nyelvi modell irányába.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D2234"/>
          </a:solidFill>
          <a:ln w="12700">
            <a:solidFill>
              <a:srgbClr val="0D2234">
                <a:alpha val="0"/>
              </a:srgbClr>
            </a:solidFill>
            <a:prstDash val="solid"/>
          </a:ln>
        </p:spPr>
      </p:sp>
      <p:pic>
        <p:nvPicPr>
          <p:cNvPr id="3" name="Image 0" descr="C:\Users\karol\OneDrive\Dokumentumok\Android\projects\excuseme\docs\latex\assets\gyontatoFulke.png"/>
          <p:cNvPicPr>
            <a:picLocks noChangeAspect="1"/>
          </p:cNvPicPr>
          <p:nvPr/>
        </p:nvPicPr>
        <p:blipFill>
          <a:blip r:embed="rId3"/>
          <a:srcRect t="17080" b="17080"/>
          <a:stretch/>
        </p:blipFill>
        <p:spPr>
          <a:xfrm>
            <a:off x="4663440" y="0"/>
            <a:ext cx="752551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005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Excuse Me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58368" y="16276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AI-alapú mobilalkalmazás kifogások újrafogalmazására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23317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6E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projekt Flutter kliensből, FastAPI backendből, OpenRouter integrációból és Firestore-alapú adatkezelésből épül fel.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| Áttekintés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Projektcél és értékajánlat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389888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664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Miért készült el az alkalmazás?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7611" y="2176272"/>
            <a:ext cx="4526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felhasználó egy kellemetlen helyzetet gyakran rosszul, túl nyersen vagy túl hosszúan fogalmaz meg.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Ugyanarra a helyzetre más hangnem szükséges munkahelyi, privát vagy humoros kontextusban.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generált szövegek akkor válnak értékessé, ha menthetők, elemezhetők és akár publikálhatók 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4617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ad a rendszer?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9536" y="491032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Hitelesített mobil klienst.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AI-alapú, nyelvhelyes válaszgenerálást.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History, statisztika, kategóriák és közösségi fal funkciókat.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44768" y="1389888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3" name="Image 0" descr="C:\Users\karol\OneDrive\Dokumentumok\Android\projects\excuseme\docs\latex\assets\fancyExc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545" y="1499616"/>
            <a:ext cx="3450557" cy="41879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5797296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Példa a generált eredményre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| UI áttekintés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Fő képernyők és felhasználói útvonal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" name="Image 0" descr="C:\Users\karol\OneDrive\Dokumentumok\Android\projects\excuseme\docs\latex\assets\excuseme_ui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501947"/>
            <a:ext cx="4718304" cy="2155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715000"/>
            <a:ext cx="4608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navigációs struktúra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97880" y="1444752"/>
            <a:ext cx="2057400" cy="452628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karol\OneDrive\Dokumentumok\Android\projects\excuseme\docs\latex\assets\na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411" y="1554480"/>
            <a:ext cx="1670338" cy="4050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62472" y="571500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Oldalsó menü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211312" y="1444752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8F5E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49056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látunk?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449056" y="1993392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kezdőfelület két fő tabot ad: Generator és Wall of Shame.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drawer kezeli a profilhoz kötött nézeteket: statisztika, history, kategóriák és Hall of Fame.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theme-váltás és az accountkezelés ugyanebben az oldalsó panelben történik.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képernyők külön screen osztályokba vannak szervezve, ezért a navigáció a kódban is tiszta.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| Screen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Generator képernyő és eredménykártya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" name="Image 0" descr="C:\Users\karol\OneDrive\Dokumentumok\Android\projects\excuseme\docs\latex\assets\gyontatoFul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55" y="1554480"/>
            <a:ext cx="2926626" cy="4050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715000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Bemeneti felület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389120" y="1444752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karol\OneDrive\Dokumentumok\Android\projects\excuseme\docs\latex\assets\fancyExc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632159"/>
            <a:ext cx="3209544" cy="38954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53712" y="5715000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Eredménykártya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119872" y="1444752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3EA"/>
          </a:solidFill>
          <a:ln w="12700">
            <a:solidFill>
              <a:srgbClr val="F0D7C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357616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D0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Működés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57616" y="20116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truth mező 240 karakterre korlátozott, így a backend bemenete kontrollálható marad.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stílusválasztás ugyanazt az endpointot használja, de más promptfeltétellel.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válaszban megjelenik az eredeti truth, a detektált nyelv, a kategória és a kész kifogás.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Post to wall művelet már egy korábban létrehozott generation rekordra épül.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| Screen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Bejelentkezés, előzmények és statisztika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" name="Image 0" descr="C:\Users\karol\OneDrive\Dokumentumok\Android\projects\excuseme\docs\latex\assets\signup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47" y="1554480"/>
            <a:ext cx="2805763" cy="4050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715000"/>
            <a:ext cx="2916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Belépés és regisztráció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178808" y="1444752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karol\OneDrive\Dokumentumok\Android\projects\excuseme\docs\latex\assets\history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456" y="1554480"/>
            <a:ext cx="2836903" cy="4050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3400" y="5715000"/>
            <a:ext cx="3557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Saját előzmények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339328" y="1444752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4" name="Image 2" descr="C:\Users\karol\OneDrive\Dokumentumok\Android\projects\excuseme\docs\latex\assets\stats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508" y="1554480"/>
            <a:ext cx="2785761" cy="40507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03920" y="5715000"/>
            <a:ext cx="2916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Statisztikai nézet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| Funkcionális magyarázat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mondanék ezekről a képernyőkről?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26464"/>
            <a:ext cx="10972800" cy="4572000"/>
          </a:xfrm>
          <a:prstGeom prst="roundRect">
            <a:avLst>
              <a:gd name="adj" fmla="val 1600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810512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belépési képernyő tokenalapú hitelesítést ad, így a generálások és a közösségi műveletek felhasználóhoz rendelhetők.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History képernyőben a korábbi generálások újrahasznosíthatók, szűrhetők és utólag publikálhatók.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Stats képernyő a backend aggregációjára épül, ezért nem a kliens számol mindent külön-külön.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Ezek együtt azt bizonyítják, hogy az alkalmazás tud tartalom-életciklust kezelni, nem csak egyszeri válaszokat adni.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99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Kulcsgondolat: minden generálás tartós rekord, amelyből később feed, leaderboard és felhasználói analitika is építhető.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| Screen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Közösségi képernyők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" name="Image 0" descr="C:\Users\karol\OneDrive\Dokumentumok\Android\projects\excuseme\docs\latex\assets\public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46" y="1554480"/>
            <a:ext cx="2809204" cy="4050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715000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Kategória alapú publikus feed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498848" y="1444752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karol\OneDrive\Dokumentumok\Android\projects\excuseme\docs\latex\assets\hallofF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020" y="1554480"/>
            <a:ext cx="2767817" cy="4050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3440" y="5715000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 of Fame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339328" y="1444752"/>
            <a:ext cx="3200400" cy="4526280"/>
          </a:xfrm>
          <a:prstGeom prst="roundRect">
            <a:avLst>
              <a:gd name="adj" fmla="val 228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4" name="Image 2" descr="C:\Users\karol\OneDrive\Dokumentumok\Android\projects\excuseme\docs\latex\assets\wallofsh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863793"/>
            <a:ext cx="2980944" cy="34321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03920" y="5715000"/>
            <a:ext cx="2871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 of Shame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| Funkcionális magyarázat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Közösségi funkciók értelmezése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554480"/>
            <a:ext cx="5669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Wall of Shame a fő publikus folyam, ahol reakciók érkeznek a posztokra.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Hall of Fame összesíti ezeket a reakciókat, ezért a közösségi érték mérhetővé válik.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Categories nézet tematikusan bontja fel a tartalmat, így a feed nem csak időrendi listává válik.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szerepkörben a publikus fal moderálható, tehát a rendszer tartalomkezelési felelősséget is vállal.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84848" y="1444752"/>
            <a:ext cx="2148840" cy="452628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9" name="Image 0" descr="C:\Users\karol\OneDrive\Dokumentumok\Android\projects\excuseme\docs\latex\assets\hallofF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168017"/>
            <a:ext cx="1929384" cy="28237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571500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Toplista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107424" y="1444752"/>
            <a:ext cx="2148840" cy="452628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2" name="Image 1" descr="C:\Users\karol\OneDrive\Dokumentumok\Android\projects\excuseme\docs\latex\assets\publicCatego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2188818"/>
            <a:ext cx="1929384" cy="27821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72016" y="571500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Témaszűrés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| Technikai áttekintés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Rendszerarchitektúra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" name="Image 0" descr="C:\Users\karol\OneDrive\Dokumentumok\Android\projects\excuseme\docs\latex\assets\excuseme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27951"/>
            <a:ext cx="5358384" cy="1703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715000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Magas szintű komponenskapcsolatok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92240" y="1444752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29984" y="1792224"/>
            <a:ext cx="4526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Flutter kliens felel a kezelőfelületért és a felhasználói állapotért.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FastAPI backend validál, hitelesít, AI-t hív és repository-rétegen keresztül perzisztál.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OpenRouter hívás a szerveren marad, így az API-kulcs nem kerül ki a mobilkliensbe.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Firestore repository ugyanazt a domainmodellt követi, mint az in-memory repository, ezért tesztelhető és cserélhető.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| 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API-kommunikáció és hibakezelés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3840480" cy="4526280"/>
          </a:xfrm>
          <a:prstGeom prst="roundRect">
            <a:avLst>
              <a:gd name="adj" fmla="val 1905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Fő endpointok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32688" y="1975104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/api/auth/signup és /api/auth/login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/api/excuses/generate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/api/history és /api/stats/overview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/api/categories/{category} és /api/leaderboard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/api/wall/publish/{id}, POST /api/wall/react/{id}, DELETE /api/admin/wall/{id}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444752"/>
            <a:ext cx="2880360" cy="1993392"/>
          </a:xfrm>
          <a:prstGeom prst="roundRect">
            <a:avLst>
              <a:gd name="adj" fmla="val 3670"/>
            </a:avLst>
          </a:prstGeom>
          <a:solidFill>
            <a:srgbClr val="F8F5E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197510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"truth": "Lekéstem a meetingről", "style": "serious" }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16824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9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Példakérés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54880" y="3657600"/>
            <a:ext cx="2880360" cy="2313432"/>
          </a:xfrm>
          <a:prstGeom prst="roundRect">
            <a:avLst>
              <a:gd name="adj" fmla="val 3162"/>
            </a:avLst>
          </a:prstGeom>
          <a:solidFill>
            <a:srgbClr val="FFF3EA"/>
          </a:solidFill>
          <a:ln w="12700">
            <a:solidFill>
              <a:srgbClr val="F0D7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397764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2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"generationId": "...", "excuse": "Váratlan műszaki akadály miatt csúsztam.", "detectedLanguage": "hu", "style": "serious", "category": "work" }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83480" y="37673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D0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Példaválasz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909560" y="1444752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56448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Hibatűrés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83880" y="1993392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kliens timeouttal hívja az API-t, és emberileg érthető üzenetet jelenít meg.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backend 502-re fordítja az upstream AI-hibát, 504-re a timeoutot.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nyelvdetektálás és az egyszeri retry garantálja, hogy a válasz a bemenet nyelvén érkezzen.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401-es hibák külön kezelik a hitelesítés hiányát vagy érvénytelenségét.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| NoSQL perzisztencia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Firestore adatmodell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4709160" cy="4526280"/>
          </a:xfrm>
          <a:prstGeom prst="roundRect">
            <a:avLst>
              <a:gd name="adj" fmla="val 161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" name="Image 0" descr="C:\Users\karol\OneDrive\Dokumentumok\Android\projects\excuseme\docs\latex\assets\fire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233877"/>
            <a:ext cx="4489704" cy="2691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715000"/>
            <a:ext cx="4379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Firestore nézet a projekt dokumentációjából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14416" y="1444752"/>
            <a:ext cx="5961888" cy="4526280"/>
          </a:xfrm>
          <a:prstGeom prst="roundRect">
            <a:avLst>
              <a:gd name="adj" fmla="val 161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70448" y="1700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Kollekciók és szerepük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897880" y="1975104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users: felhasználói azonosító, username, passwordHash, isAdmin, createdAt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excuse_generations: userId, username, truth, excuse, style, language, category, publishedToWall, createdAt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wall_posts: username, truth, excuse, style, language, category, generationId, reactions, lolCount, createdAt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wall_posts dokumentum a generation rekord publikus, reakciózható kivetítése.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97880" y="475488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3EA"/>
          </a:solidFill>
          <a:ln w="12700">
            <a:solidFill>
              <a:srgbClr val="F0D7C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44768" y="5010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NoSQL előny: a lekérdezések a képernyők igényeihez igazodnak, például history lista, leaderboard és kategória feed.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| Minőség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Tesztelhetőség és állapotkezelés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444752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8" name="Image 0" descr="C:\Users\karol\OneDrive\Dokumentumok\Android\projects\excuseme\docs\latex\assets\excuseme_stat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045" y="1554480"/>
            <a:ext cx="1002205" cy="1581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246120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Állapotdiagram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58368" y="3712464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karol\OneDrive\Dokumentumok\Android\projects\excuseme\docs\latex\assets\excuseme_activity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909" y="3822192"/>
            <a:ext cx="774478" cy="1581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5513832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Aktivitásdiagram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251960" y="1444752"/>
            <a:ext cx="4206240" cy="4325112"/>
          </a:xfrm>
          <a:prstGeom prst="roundRect">
            <a:avLst>
              <a:gd name="adj" fmla="val 1739"/>
            </a:avLst>
          </a:prstGeom>
          <a:solidFill>
            <a:srgbClr val="FFFCF8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4" name="Image 2" descr="C:\Users\karol\OneDrive\Dokumentumok\Android\projects\excuseme\docs\latex\assets\excuseme_class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2128553"/>
            <a:ext cx="3986784" cy="270147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16552" y="5513832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Osztálydiagram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8723376" y="1444752"/>
            <a:ext cx="2852928" cy="4325112"/>
          </a:xfrm>
          <a:prstGeom prst="roundRect">
            <a:avLst>
              <a:gd name="adj" fmla="val 2564"/>
            </a:avLst>
          </a:prstGeom>
          <a:solidFill>
            <a:srgbClr val="F8F5E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942832" y="1755648"/>
            <a:ext cx="2331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tesztek ellenőrzik a sikeres generálást, a validation hibákat, a timeoutot és az upstream hibát.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widget tesztek lefedik a gombállapotot, az eredménykirajzolást és a wall feed megjelenítést.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4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szolgáltatásrétegek leválasztása miatt a UI könnyen tesztelhető hamis service-ekkel is.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Projektbemutató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8D6325-5955-97A7-8092-A069D8ECC1F5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>
                <a:alpha val="0"/>
              </a:srgbClr>
            </a:solidFill>
            <a:prstDash val="solid"/>
          </a:ln>
        </p:spPr>
      </p:sp>
      <p:pic>
        <p:nvPicPr>
          <p:cNvPr id="3" name="Image 2" descr="C:\Users\karol\OneDrive\Dokumentumok\Android\projects\excuseme\docs\latex\assets\excuseme_class_diagram.png">
            <a:extLst>
              <a:ext uri="{FF2B5EF4-FFF2-40B4-BE49-F238E27FC236}">
                <a16:creationId xmlns:a16="http://schemas.microsoft.com/office/drawing/2014/main" id="{48D7353C-7602-9A29-62A6-14BFC64B3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414052"/>
            <a:ext cx="9505950" cy="6441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17212-A9A2-B9D2-72C5-46DEDA2832ED}"/>
              </a:ext>
            </a:extLst>
          </p:cNvPr>
          <p:cNvSpPr txBox="1"/>
          <p:nvPr/>
        </p:nvSpPr>
        <p:spPr>
          <a:xfrm>
            <a:off x="7924800" y="895349"/>
            <a:ext cx="360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 err="1"/>
              <a:t>Class</a:t>
            </a:r>
            <a:r>
              <a:rPr lang="hu-HU" sz="2800" b="1" dirty="0"/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2450179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diagram</a:t>
            </a:r>
            <a:endParaRPr lang="en-US" sz="2000" dirty="0"/>
          </a:p>
        </p:txBody>
      </p:sp>
      <p:pic>
        <p:nvPicPr>
          <p:cNvPr id="3" name="Image 0" descr="C:\Users\karol\OneDrive\Dokumentumok\Android\projects\excuseme\docs\latex\assets\excuseme_use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049" y="658368"/>
            <a:ext cx="4359143" cy="5760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Diagram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diagram</a:t>
            </a:r>
            <a:endParaRPr lang="en-US" sz="2000" dirty="0"/>
          </a:p>
        </p:txBody>
      </p:sp>
      <p:pic>
        <p:nvPicPr>
          <p:cNvPr id="3" name="Image 0" descr="C:\Users\karol\OneDrive\Dokumentumok\Android\projects\excuseme\docs\latex\assets\excuseme_ui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37911"/>
            <a:ext cx="11384280" cy="52016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Diagram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diagram</a:t>
            </a:r>
            <a:endParaRPr lang="en-US" sz="2000" dirty="0"/>
          </a:p>
        </p:txBody>
      </p:sp>
      <p:pic>
        <p:nvPicPr>
          <p:cNvPr id="3" name="Image 0" descr="C:\Users\karol\OneDrive\Dokumentumok\Android\projects\excuseme\docs\latex\assets\excuseme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28751"/>
            <a:ext cx="11384280" cy="36199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Diagram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diagram</a:t>
            </a:r>
            <a:endParaRPr lang="en-US" sz="2000" dirty="0"/>
          </a:p>
        </p:txBody>
      </p:sp>
      <p:pic>
        <p:nvPicPr>
          <p:cNvPr id="3" name="Image 0" descr="C:\Users\karol\OneDrive\Dokumentumok\Android\projects\excuseme\docs\latex\assets\excuseme_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26" y="658368"/>
            <a:ext cx="7587789" cy="5760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Diagram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diagram</a:t>
            </a:r>
            <a:endParaRPr lang="en-US" sz="2000" dirty="0"/>
          </a:p>
        </p:txBody>
      </p:sp>
      <p:pic>
        <p:nvPicPr>
          <p:cNvPr id="3" name="Image 0" descr="C:\Users\karol\OneDrive\Dokumentumok\Android\projects\excuseme\docs\latex\assets\excuseme_stat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796" y="658368"/>
            <a:ext cx="3649649" cy="5760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Diagram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diagram</a:t>
            </a:r>
            <a:endParaRPr lang="en-US" sz="2000" dirty="0"/>
          </a:p>
        </p:txBody>
      </p:sp>
      <p:pic>
        <p:nvPicPr>
          <p:cNvPr id="3" name="Image 0" descr="C:\Users\karol\OneDrive\Dokumentumok\Android\projects\excuseme\docs\latex\assets\excuseme_activit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44" y="658368"/>
            <a:ext cx="2820352" cy="5760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5566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Excuse Me | Diagram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ol\OneDrive\Dokumentumok\Android\projects\excuseme\docs\latex\assets\hallofFame.png"/>
          <p:cNvPicPr>
            <a:picLocks noChangeAspect="1"/>
          </p:cNvPicPr>
          <p:nvPr/>
        </p:nvPicPr>
        <p:blipFill>
          <a:blip r:embed="rId3"/>
          <a:srcRect t="5438" b="5438"/>
          <a:stretch/>
        </p:blipFill>
        <p:spPr>
          <a:xfrm>
            <a:off x="6931152" y="0"/>
            <a:ext cx="52578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9692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D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Összegzés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335024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 Excuse Me egyszerre kreatív és mérnökileg felépített mobilprojekt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68680" y="23317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 jól követhető felhasználói folyamata.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 szerveroldali üzleti logikája és hibatűrése.</a:t>
            </a:r>
            <a:endParaRPr lang="en-US" sz="1600" dirty="0">
              <a:solidFill>
                <a:schemeClr val="bg1"/>
              </a:solidFill>
            </a:endParaRPr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 Firestore-alapú perzisztenciája és közösségi modulja.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B7441-5C9B-7F0A-5C5B-75627F05EA44}"/>
              </a:ext>
            </a:extLst>
          </p:cNvPr>
          <p:cNvSpPr txBox="1"/>
          <p:nvPr/>
        </p:nvSpPr>
        <p:spPr>
          <a:xfrm>
            <a:off x="731520" y="4200525"/>
            <a:ext cx="5212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>
                <a:solidFill>
                  <a:schemeClr val="bg1"/>
                </a:solidFill>
              </a:rPr>
              <a:t>Köszönöm a figyelmet!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1643</Words>
  <Application>Microsoft Office PowerPoint</Application>
  <PresentationFormat>Widescreen</PresentationFormat>
  <Paragraphs>166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Excuse 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Excuse Me projektbemutató</dc:title>
  <dc:subject>Excuse Me projektbemutató</dc:subject>
  <dc:creator>OpenAI Codex</dc:creator>
  <cp:lastModifiedBy>Thompson Charley</cp:lastModifiedBy>
  <cp:revision>2</cp:revision>
  <dcterms:created xsi:type="dcterms:W3CDTF">2026-03-23T18:51:54Z</dcterms:created>
  <dcterms:modified xsi:type="dcterms:W3CDTF">2026-03-23T19:03:11Z</dcterms:modified>
</cp:coreProperties>
</file>